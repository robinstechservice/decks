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017520"/>
            <a:ext cx="18288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11887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0" b="1">
                <a:solidFill>
                  <a:srgbClr val="FFFFFF"/>
                </a:solidFill>
                <a:latin typeface="Microsoft JhengHei"/>
              </a:rPr>
              <a:t>羅賓斯科技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11887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D4AF37"/>
                </a:solidFill>
                <a:latin typeface="Microsoft JhengHei"/>
              </a:rPr>
              <a:t>從台灣汽車保險科技起家 · 聚焦業務員賦能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11887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Microsoft JhengHei"/>
              </a:rPr>
              <a:t>場景保險  ·  業務員賦能  ·  API 中台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400800"/>
            <a:ext cx="1188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2025 數發部 GenAI Stars 金質獎  ·  ISO 27001 + ISO 27701 雙認證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949440"/>
            <a:ext cx="1188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icrosoft JhengHei"/>
              </a:rPr>
              <a:t>2019 成立  ·  服務台灣前 30 大保險經紀人公司  ·  深耕東南亞 4 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我們的使命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聚焦業務員賦能、深耕台灣保險生態圈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2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828800"/>
            <a:ext cx="1188720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000" b="1">
                <a:solidFill>
                  <a:srgbClr val="0A1E3F"/>
                </a:solidFill>
                <a:latin typeface="Microsoft JhengHei"/>
              </a:rPr>
              <a:t>「GenAI 讓保險變得更簡單、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184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000" b="1">
                <a:solidFill>
                  <a:srgbClr val="0A1E3F"/>
                </a:solidFill>
                <a:latin typeface="Microsoft JhengHei"/>
              </a:rPr>
              <a:t>更聰明、也更有溫度」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8463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1E3A6F"/>
                </a:solidFill>
                <a:latin typeface="Microsoft JhengHei"/>
              </a:rPr>
              <a:t>今天賦能保險業務員 · 明天打造數位保險的基礎建設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669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Microsoft JhengHei"/>
              </a:rPr>
              <a:t>2019 創立 · 總部臺北 · 服務台灣前 30 大保險經紀人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領導團隊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保險 · AI · 金融 — 三大支柱驅動成長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3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r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57400" y="14173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Evin Lin 林奕帆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10312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創辦人 &amp; 執行長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60604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74320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保險科技實務專家 · 推動羅賓斯創新轉型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23444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ir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66560" y="14173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Frank Kao 高偉峰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0312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董事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60604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74320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30 年以上產險業 · 三家保險公司副總經驗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23444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ir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371600"/>
            <a:ext cx="1371600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475720" y="14173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Dennis Lee 李豐源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210312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董事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75720" y="260604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274320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資本市場 · IoT-金融海外擴張專家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ir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709160"/>
            <a:ext cx="1371600" cy="1371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57400" y="4754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Ning Ning Yu 俞寧寧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44068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董事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594360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608076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AI 技術專家 · 前 Taboola 副總 · 矽谷 7 次創業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20" y="457200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dir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4709160"/>
            <a:ext cx="1371600" cy="1371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66560" y="4754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Wu Ching-Ming 吳慶明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44068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董事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594360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608076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前保險經紀人公會理事長 · 保險法考照培訓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0" y="457200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ir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4709160"/>
            <a:ext cx="1371600" cy="1371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475720" y="4754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T.C. Kuo 郭廷章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544068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股東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75720" y="594360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75720" y="608076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國際再保險專家 · 產險業資深經驗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成長軌跡與營運紀錄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從台灣汽車保險科技起家、深耕亞洲嵌入式保險平台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4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4114800" cy="6400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0" b="1">
                <a:solidFill>
                  <a:srgbClr val="D4AF37"/>
                </a:solidFill>
                <a:latin typeface="Microsoft JhengHei"/>
              </a:rPr>
              <a:t>100K+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A1E3F"/>
                </a:solidFill>
                <a:latin typeface="Microsoft JhengHei"/>
              </a:rPr>
              <a:t>累積保單成交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icrosoft JhengHei"/>
              </a:rPr>
              <a:t>自 2019 創立累計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E3F"/>
                </a:solidFill>
                <a:latin typeface="Microsoft JhengHei"/>
              </a:rPr>
              <a:t>重要里程碑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羅賓斯科技成立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13831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513831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首家於 UBER 導入 UBI 保單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2744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952744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服務台灣前 30 大保險經紀人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91656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6391656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GenAI 金質獎 + ISO 雙認證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83056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83056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收購柬埔寨 Blue Ocean Broker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7269479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7269479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進軍越南胡志明市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280160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1280160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155448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台灣第一家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25603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保險業務員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38328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已擴至新加坡、柬埔寨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42048" y="1280160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42048" y="1280160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208" y="155448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No.1 數位化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25603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商用車保險專家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338328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400 家租賃 · 50% UBER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37776" y="1280160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37776" y="1280160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74936" y="155448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NT$ 5 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4936" y="25603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累積保費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4936" y="338328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透過羅賓斯平台售出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33504" y="1280160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33504" y="1280160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70664" y="155448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領先技術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70664" y="25603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微服務 · SaaS · 嵌入式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70664" y="338328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Google for Startups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4498848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46320" y="4498848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3480" y="477316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14 家合作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577900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保險公司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6601968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線下 + 線上 12 家串接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42048" y="4498848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42048" y="4498848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208" y="477316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創新保險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9208" y="577900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領先者地位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79208" y="6601968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首家碎片化 + 首家 UBI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37776" y="4498848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37776" y="4498848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74936" y="477316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8 萬用戶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74936" y="577900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活躍用戶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74936" y="6601968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台灣最完整商用車資料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033504" y="4498848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033504" y="4498848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170664" y="477316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國家級獎項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70664" y="577900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政府背書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70664" y="6601968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GenAI Stars 金質獎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市場機會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台灣保險市場數位轉型的下一個爆發點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5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A1E3F"/>
                </a:solidFill>
                <a:latin typeface="Microsoft JhengHei"/>
              </a:rPr>
              <a:t>台灣保險市場正進入數位重整期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429768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429768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3749039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0A1E3F"/>
                </a:solidFill>
                <a:latin typeface="Microsoft JhengHei"/>
              </a:rPr>
              <a:t>NT$ 4 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E3A6F"/>
                </a:solidFill>
                <a:latin typeface="Microsoft JhengHei"/>
              </a:rPr>
              <a:t>台灣保險年保費收入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icrosoft JhengHei"/>
              </a:rPr>
              <a:t>亞洲保險滲透率名列前茅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2011680"/>
            <a:ext cx="429768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2011680"/>
            <a:ext cx="429768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286000"/>
            <a:ext cx="3749039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0A1E3F"/>
                </a:solidFill>
                <a:latin typeface="Microsoft JhengHei"/>
              </a:rPr>
              <a:t>&lt; 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15468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E3A6F"/>
                </a:solidFill>
                <a:latin typeface="Microsoft JhengHei"/>
              </a:rPr>
              <a:t>數位通路滲透率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5760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icrosoft JhengHei"/>
              </a:rPr>
              <a:t>龐大成長空間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2011680"/>
            <a:ext cx="429768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2011680"/>
            <a:ext cx="429768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286000"/>
            <a:ext cx="3749039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0A1E3F"/>
                </a:solidFill>
                <a:latin typeface="Microsoft JhengHei"/>
              </a:rPr>
              <a:t>USD 2 億+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15468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E3A6F"/>
                </a:solidFill>
                <a:latin typeface="Microsoft JhengHei"/>
              </a:rPr>
              <a:t>2024 InsurTech 投資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65760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icrosoft JhengHei"/>
              </a:rPr>
              <a:t>保險公司尋找 AI 夥伴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1371600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羅賓斯切入的三個高成長領域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(A) 場景保險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97880"/>
            <a:ext cx="4297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A1E3F"/>
                </a:solidFill>
                <a:latin typeface="Microsoft JhengHei"/>
              </a:rPr>
              <a:t>維修廠、二手車、旅遊、OTA — 高頻觸點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94944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E3A6F"/>
                </a:solidFill>
                <a:latin typeface="Microsoft JhengHei"/>
              </a:rPr>
              <a:t>三方分潤（場景 + 保險公司 + 平台）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2578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(B) 業務員賦能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897880"/>
            <a:ext cx="4297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A1E3F"/>
                </a:solidFill>
                <a:latin typeface="Microsoft JhengHei"/>
              </a:rPr>
              <a:t>Top 30 保經 · 每週省 10 小時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694944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E3A6F"/>
                </a:solidFill>
                <a:latin typeface="Microsoft JhengHei"/>
              </a:rPr>
              <a:t>SaaS 訂閱 · 業績成長 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52578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(C) API 中台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5897880"/>
            <a:ext cx="4297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A1E3F"/>
                </a:solidFill>
                <a:latin typeface="Microsoft JhengHei"/>
              </a:rPr>
              <a:t>保險公司、經紀人、流量平台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94944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E3A6F"/>
                </a:solidFill>
                <a:latin typeface="Microsoft JhengHei"/>
              </a:rPr>
              <a:t>API 服務費 · 技術授權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三大 AI 保險科技商品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聚焦業務員賦能、深耕台灣保險生態圈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6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43891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4389120" cy="1371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1645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1976D2"/>
                </a:solidFill>
                <a:latin typeface="Microsoft JhengHei"/>
              </a:rPr>
              <a:t>(A)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8404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A1E3F"/>
                </a:solidFill>
                <a:latin typeface="Microsoft JhengHei"/>
              </a:rPr>
              <a:t>場景保險
（嵌入式）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3840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保險嵌入消費者旅程：買車、用車、旅遊、OTA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943600"/>
            <a:ext cx="3840480" cy="5943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機票結帳附加率 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645920"/>
            <a:ext cx="43891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645920"/>
            <a:ext cx="43891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965960"/>
            <a:ext cx="1645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D4AF37"/>
                </a:solidFill>
                <a:latin typeface="Microsoft JhengHei"/>
              </a:rPr>
              <a:t>(B)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926080"/>
            <a:ext cx="38404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A1E3F"/>
                </a:solidFill>
                <a:latin typeface="Microsoft JhengHei"/>
              </a:rPr>
              <a:t>業務員
賦能 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480560"/>
            <a:ext cx="3840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一站式 AI 平台：OCR、比價、CRM、出單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5943600"/>
            <a:ext cx="3840480" cy="594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603504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週省 10 小時 · 業績 +80%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1645920"/>
            <a:ext cx="43891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5520" y="1645920"/>
            <a:ext cx="4389120" cy="13716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965960"/>
            <a:ext cx="1645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1E3A6F"/>
                </a:solidFill>
                <a:latin typeface="Microsoft JhengHei"/>
              </a:rPr>
              <a:t>(C)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926080"/>
            <a:ext cx="38404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A1E3F"/>
                </a:solidFill>
                <a:latin typeface="Microsoft JhengHei"/>
              </a:rPr>
              <a:t>API
中台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480560"/>
            <a:ext cx="3840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投保、核保、車籍、OCR、理賠整合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5943600"/>
            <a:ext cx="3840480" cy="59436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603504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ISO 27001 + 27701 雙認證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704088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1E3F"/>
                </a:solidFill>
                <a:latin typeface="Microsoft JhengHei"/>
              </a:rPr>
              <a:t>三大商品均已完成商業化，並有實際營收合約。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(A) 場景保險（嵌入式保險）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將保險嵌入消費者已在進行的旅程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7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A1E3F"/>
                </a:solidFill>
                <a:latin typeface="Microsoft JhengHei"/>
              </a:rPr>
              <a:t>保險在最自然的時刻發生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93392"/>
            <a:ext cx="128016" cy="1280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3A6F"/>
                </a:solidFill>
                <a:latin typeface="Microsoft JhengHei"/>
              </a:rPr>
              <a:t>維修廠 / 二手車商 — 買車、修車場景嵌入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96312"/>
            <a:ext cx="128016" cy="1280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3A6F"/>
                </a:solidFill>
                <a:latin typeface="Microsoft JhengHei"/>
              </a:rPr>
              <a:t>旅行社 / OTA / 航空 — 旅平險 / 海外醫療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99232"/>
            <a:ext cx="128016" cy="1280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34640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3A6F"/>
                </a:solidFill>
                <a:latin typeface="Microsoft JhengHei"/>
              </a:rPr>
              <a:t>電動車經銷（柬埔寨 BYD）— 車險 + 保固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02152"/>
            <a:ext cx="128016" cy="1280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3A6F"/>
                </a:solidFill>
                <a:latin typeface="Microsoft JhengHei"/>
              </a:rPr>
              <a:t>機票結帳一鍵投保 — 30% 附加率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8229600" cy="21031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82296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★ 保險保修大聯盟（2026 新戰場）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82312"/>
            <a:ext cx="9144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新北汽車保險修公會 5,000+ 維修廠資源池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48072"/>
            <a:ext cx="9144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2920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首波 300+ 廠加入車險保修聯盟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13831"/>
            <a:ext cx="9144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94959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補習班履約責任險 8,000 家市場切入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79592"/>
            <a:ext cx="9144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Carpost 通路串接 · 廠代碼整合出單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355080"/>
            <a:ext cx="82296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7863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三方分潤商業模式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949440"/>
            <a:ext cx="7863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場景方分潤 + 保險公司佣金 + 羅賓斯平台費</a:t>
            </a:r>
          </a:p>
        </p:txBody>
      </p:sp>
      <p:pic>
        <p:nvPicPr>
          <p:cNvPr id="32" name="Picture 31" descr="02_embedded_lap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188720"/>
            <a:ext cx="548640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(B) 業務員賦能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服務台灣前 30 大保險經紀人公司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8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32004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320040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A1E3F"/>
                </a:solidFill>
                <a:latin typeface="Microsoft JhengHei"/>
              </a:rPr>
              <a:t>10 小時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每位業務員
每週節省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280160"/>
            <a:ext cx="32004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280160"/>
            <a:ext cx="320040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55448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A1E3F"/>
                </a:solidFill>
                <a:latin typeface="Microsoft JhengHei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423160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頂尖用戶
業績成長率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280160"/>
            <a:ext cx="32004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0" y="1280160"/>
            <a:ext cx="320040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55448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A1E3F"/>
                </a:solidFill>
                <a:latin typeface="Microsoft JhengHei"/>
              </a:rPr>
              <a:t>Top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423160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台灣保險
經紀人公司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1360" y="1280160"/>
            <a:ext cx="32004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81360" y="1280160"/>
            <a:ext cx="320040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155448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A1E3F"/>
                </a:solidFill>
                <a:latin typeface="Microsoft JhengHei"/>
              </a:rPr>
              <a:t>一站式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2423160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OCR + 比價 + CRM
+ 出單 + 續保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5760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A1E3F"/>
                </a:solidFill>
                <a:latin typeface="Microsoft JhengHei"/>
              </a:rPr>
              <a:t>業務員 SaaS 工作流：業務後台 + 旅平險前台</a:t>
            </a:r>
          </a:p>
        </p:txBody>
      </p:sp>
      <p:pic>
        <p:nvPicPr>
          <p:cNvPr id="26" name="Picture 25" descr="01_agent_saas_mob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13167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(C) API 中台平台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ISO 27001 + ISO 27701 雙認證 — 獲保險公司技術肯定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9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6400800" cy="11887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6035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D4AF37"/>
                </a:solidFill>
                <a:latin typeface="Microsoft JhengHei"/>
              </a:rPr>
              <a:t>ISO 27001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資訊安全管理（Information Security Management）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143000"/>
            <a:ext cx="6400800" cy="11887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280160"/>
            <a:ext cx="6035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D4AF37"/>
                </a:solidFill>
                <a:latin typeface="Microsoft JhengHei"/>
              </a:rPr>
              <a:t>ISO 27701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82880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隱私資訊管理（Privacy Information Management）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0604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完整保險基礎建設 API 組合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10712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保單比價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即時多家保險公司比價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246120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3410712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核保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93192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自動化風險評估流程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3246120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3410712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車籍查詢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393192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台灣車籍資料查詢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26279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690871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OCR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212079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行照 / 駕照 / 身分證辨識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4526279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4690871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保單管理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5212079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出單、批改、續保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4526279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4690871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理賠流程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5212079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理賠申請、進度、結案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989320"/>
            <a:ext cx="13716000" cy="1691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126480"/>
            <a:ext cx="1335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A1E3F"/>
                </a:solidFill>
                <a:latin typeface="Microsoft JhengHei"/>
              </a:rPr>
              <a:t>服務客戶舉例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629400"/>
            <a:ext cx="1335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E3A6F"/>
                </a:solidFill>
                <a:latin typeface="Microsoft JhengHei"/>
              </a:rPr>
              <a:t>台灣主要產險公司 · 前 30 大保險經紀人 · 主要 OTA 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7132320"/>
            <a:ext cx="1335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E3A6F"/>
                </a:solidFill>
                <a:latin typeface="Microsoft JhengHei"/>
              </a:rPr>
              <a:t>數發部車管雲 · BYD Cambodia · Newa Insurance Cambodia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技術架構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微服務 · 雲端原生 · 全程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10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9418320" cy="6583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25880"/>
            <a:ext cx="2286000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通路層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32588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325880"/>
            <a:ext cx="150876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58191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OTA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9432" y="132588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9432" y="1325880"/>
            <a:ext cx="150876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58191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維修廠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32588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325880"/>
            <a:ext cx="150876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158191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電動車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132588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54696" y="1325880"/>
            <a:ext cx="150876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158191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旅遊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313432"/>
            <a:ext cx="2286000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542032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GenAI 應用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2313432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2313432"/>
            <a:ext cx="15087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2569464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比價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9432" y="2313432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99432" y="2313432"/>
            <a:ext cx="15087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2569464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OCR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7064" y="2313432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27064" y="2313432"/>
            <a:ext cx="15087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064" y="2569464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SaaS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54696" y="2313432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54696" y="2313432"/>
            <a:ext cx="15087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54696" y="2569464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嵌入式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300984"/>
            <a:ext cx="2286000" cy="868680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529584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教育訓練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3300984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71800" y="3300984"/>
            <a:ext cx="1508760" cy="73152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3557016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產品賦能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3300984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99432" y="3300984"/>
            <a:ext cx="1508760" cy="73152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99432" y="3557016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問不倒機器人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7064" y="3300984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27064" y="3300984"/>
            <a:ext cx="1508760" cy="73152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27064" y="3557016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RAG + LLM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54696" y="3300984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54696" y="3300984"/>
            <a:ext cx="1508760" cy="73152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54696" y="3557016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知識庫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288536"/>
            <a:ext cx="2286000" cy="86868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517136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團隊增員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71800" y="4288536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71800" y="4288536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71800" y="4544568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個人 IP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99432" y="4288536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99432" y="4288536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99432" y="4544568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知識蒸餾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27064" y="4288536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27064" y="4288536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27064" y="4544568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Vivian Clone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54696" y="4288536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54696" y="4288536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54696" y="4544568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Persona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276088"/>
            <a:ext cx="2286000" cy="86868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504688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核心服務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71800" y="5276088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71800" y="5276088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71800" y="5532120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保單 API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99432" y="5276088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99432" y="5276088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99432" y="5532120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核保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27064" y="5276088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27064" y="5276088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27064" y="5532120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理賠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54696" y="5276088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854696" y="5276088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54696" y="5532120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車籍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6263640"/>
            <a:ext cx="22860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64922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保險公司 / 數據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71800" y="626364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971800" y="6263640"/>
            <a:ext cx="1508760" cy="73152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71800" y="651967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14 家產險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99432" y="626364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599432" y="6263640"/>
            <a:ext cx="1508760" cy="73152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99432" y="651967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Top 30 保經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27064" y="626364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27064" y="6263640"/>
            <a:ext cx="1508760" cy="73152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27064" y="651967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數發部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854696" y="626364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54696" y="6263640"/>
            <a:ext cx="1508760" cy="73152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54696" y="651967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Newa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58400" y="123444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核心能力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0" y="1874519"/>
            <a:ext cx="109728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87000" y="1874519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微服務架構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87000" y="2331719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服務獨立部署、快速迭代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58400" y="2834639"/>
            <a:ext cx="109728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87000" y="2834639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雲端原生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87000" y="3291839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AWS / GCP 99.95% SLA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58400" y="3794760"/>
            <a:ext cx="109728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87000" y="379476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GenAI 層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87000" y="425196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LLM 驅動比價、OCR、推薦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4754880"/>
            <a:ext cx="109728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47548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資安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87000" y="521208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Zero-Trust · ISO 27001+27701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58400" y="5852160"/>
            <a:ext cx="4297680" cy="1874519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95560" y="594360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技術 Stack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195560" y="6446520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9556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RAG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567160" y="6446520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56716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LLM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2938760" y="6446520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93876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OCR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195560" y="6995159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195560" y="7086599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Whisper STT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567160" y="6995159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567160" y="7086599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爬蟲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2938760" y="6995159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938760" y="7086599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API 串接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台灣車籍資料平台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整合車籍登記、保險與車隊管理的統一資料庫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11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6858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A1E3F"/>
                </a:solidFill>
                <a:latin typeface="Microsoft JhengHei"/>
              </a:rPr>
              <a:t>台灣汽車保險的資料骨幹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車籍登記查詢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即時連線車籍登記資料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保險交叉比對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自動偵測既有保單與續保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69079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79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車隊管理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79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B2B 車隊追蹤、商用車險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GenAI 推薦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7784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依車況推薦最佳保額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172200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617220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政府背書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62940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串接數發部車管雲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280160"/>
            <a:ext cx="5943600" cy="6400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920240"/>
            <a:ext cx="5943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0" b="1">
                <a:solidFill>
                  <a:srgbClr val="D4AF37"/>
                </a:solidFill>
                <a:latin typeface="Microsoft JhengHei"/>
              </a:rPr>
              <a:t>8 萬+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11480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0A1E3F"/>
                </a:solidFill>
                <a:latin typeface="Microsoft JhengHei"/>
              </a:rPr>
              <a:t>商用車車主資料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61772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6B7280"/>
                </a:solidFill>
                <a:latin typeface="Microsoft JhengHei"/>
              </a:rPr>
              <a:t>台灣最完整商用車車主資料庫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4924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>
                <a:solidFill>
                  <a:srgbClr val="0A1E3F"/>
                </a:solidFill>
                <a:latin typeface="Microsoft JhengHei"/>
              </a:rPr>
              <a:t>400 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17220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1E3A6F"/>
                </a:solidFill>
                <a:latin typeface="Microsoft JhengHei"/>
              </a:rPr>
              <a:t>小客車租賃合作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67512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>
                <a:solidFill>
                  <a:srgbClr val="0A1E3F"/>
                </a:solidFill>
                <a:latin typeface="Microsoft JhengHei"/>
              </a:rPr>
              <a:t>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736092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E3A6F"/>
                </a:solidFill>
                <a:latin typeface="Microsoft JhengHei"/>
              </a:rPr>
              <a:t>UBER / Tesla 租賃車市占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商業模式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三方分潤 — 通路、保險公司、平台共贏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12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772400" cy="6126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7406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三方價值鏈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194560"/>
            <a:ext cx="27432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3317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通路夥伴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3464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Microsoft JhengHei"/>
              </a:rPr>
              <a:t>OTA · 維修廠
二手車 · 旅行社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754880"/>
            <a:ext cx="274320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1E3F"/>
                </a:solidFill>
                <a:latin typeface="Microsoft JhengHei"/>
              </a:rPr>
              <a:t>保險公司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A1E3F"/>
                </a:solidFill>
                <a:latin typeface="Microsoft JhengHei"/>
              </a:rPr>
              <a:t>台灣 14 家產險
柬埔寨 Newa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4754880"/>
            <a:ext cx="2743200" cy="13716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4892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D4AF37"/>
                </a:solidFill>
                <a:latin typeface="Microsoft JhengHei"/>
              </a:rPr>
              <a:t>羅賓斯平台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39496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JhengHei"/>
              </a:rPr>
              <a:t>GenAI + API + 合規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657600"/>
            <a:ext cx="3383280" cy="86868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749039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D4AF37"/>
                </a:solidFill>
                <a:latin typeface="Microsoft JhengHei"/>
              </a:rPr>
              <a:t>三方分潤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16052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JhengHei"/>
              </a:rPr>
              <a:t>場景方 + 保險公司 + 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7406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0A1E3F"/>
                </a:solidFill>
                <a:latin typeface="Microsoft JhengHei"/>
              </a:rPr>
              <a:t>案例：機票結帳旅平險附加率達 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903720"/>
            <a:ext cx="7406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E3A6F"/>
                </a:solidFill>
                <a:latin typeface="Microsoft JhengHei"/>
              </a:rPr>
              <a:t>每 NT$ 1 保費 → 三方共贏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23444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A1E3F"/>
                </a:solidFill>
                <a:latin typeface="Microsoft JhengHei"/>
              </a:rPr>
              <a:t>營收結構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65960"/>
            <a:ext cx="502920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130552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場景嵌入式保險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24328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平台費 + 場景分潤 + 佣金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246120"/>
            <a:ext cx="502920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3410712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業務員 SaaS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904488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月度訂閱費 · 每位業務員計價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4526279"/>
            <a:ext cx="502920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4690871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API 中台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184647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API 呼叫費 + 年度授權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5806440"/>
            <a:ext cx="502920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5971032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數據服務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6464808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保險公司與 BD 進階資料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未來保代：用剛需保險包圍汽車生態系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剛需車險作為入口、拉動維修與買賣全鏈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13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3716000" cy="9144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1335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D4AF37"/>
                </a:solidFill>
                <a:latin typeface="Microsoft JhengHei"/>
              </a:rPr>
              <a:t>羅賓斯科技透過未來保代賺取三條收益軸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55648"/>
            <a:ext cx="1335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必買的車險（剛需）→ 拉動維修服務 → 拉動汽車買賣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448056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4480560" cy="1371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976D2"/>
                </a:solidFill>
                <a:latin typeface="Microsoft JhengHei"/>
              </a:rPr>
              <a:t>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A1E3F"/>
                </a:solidFill>
                <a:latin typeface="Microsoft JhengHei"/>
              </a:rPr>
              <a:t>保費佣金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業務員售車險、機車險、強制險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39319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佣金分潤模式 · Top 30 保經通路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537960"/>
            <a:ext cx="3931920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62940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剛需 / 高頻 / 入口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377440"/>
            <a:ext cx="448056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2377440"/>
            <a:ext cx="44805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65176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(2)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56616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A1E3F"/>
                </a:solidFill>
                <a:latin typeface="Microsoft JhengHei"/>
              </a:rPr>
              <a:t>維修服務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34340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5,000+ 維修廠（新北汽車保險修公會）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5394960"/>
            <a:ext cx="39319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服務費 + 廠代碼整合出單分潤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6537960"/>
            <a:ext cx="393192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662940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保險理賠導流維修廠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377440"/>
            <a:ext cx="448056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2377440"/>
            <a:ext cx="4480560" cy="137160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265176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2803F"/>
                </a:solidFill>
                <a:latin typeface="Microsoft JhengHei"/>
              </a:rPr>
              <a:t>(3)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56616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A1E3F"/>
                </a:solidFill>
                <a:latin typeface="Microsoft JhengHei"/>
              </a:rPr>
              <a:t>汽車買賣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34340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二手車交易媒合 + Carpost 通路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394960"/>
            <a:ext cx="39319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成交分潤 + 車況保證險套餐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6537960"/>
            <a:ext cx="3931920" cy="548640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662940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車況金融化、買賣雙信任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7452360"/>
            <a:ext cx="1316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0A1E3F"/>
                </a:solidFill>
                <a:latin typeface="Microsoft JhengHei"/>
              </a:rPr>
              <a:t>剛需保險 → 服務 → 交易 — 一條未來保代的完整變現鏈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客戶案例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三大類客戶 — 嵌入式保險 / 業務員賦能 / API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14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448056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448056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53312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A 嵌入式保險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A1E3F"/>
                </a:solidFill>
                <a:latin typeface="Microsoft JhengHei"/>
              </a:rPr>
              <a:t>保險嵌入消費者旅程的場景方夥伴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56432"/>
            <a:ext cx="109728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Uber 保險（Top 1 UBI · 2021）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50791"/>
            <a:ext cx="109728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8619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易飛網（旅平險）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45151"/>
            <a:ext cx="109728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5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★ 保修大聯盟（本月新增）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39512"/>
            <a:ext cx="109728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紅牛旅遊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1188720"/>
            <a:ext cx="448056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1188720"/>
            <a:ext cx="4480560" cy="7315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1353312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B 業務員賦能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10312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A1E3F"/>
                </a:solidFill>
                <a:latin typeface="Microsoft JhengHei"/>
              </a:rPr>
              <a:t>Top 30 保經 SaaS 部署，每週省 10 小時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3456432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29184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錠嵂保經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4050791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388619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永達保經（Vivian Clone）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4645151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48055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富易達（2,900 業務員）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5239512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507492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巨擘保經（補習班履約）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5833872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566928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看見保經（OCR + RAG）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1188720"/>
            <a:ext cx="448056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84080" y="1188720"/>
            <a:ext cx="4480560" cy="73152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1353312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C API 平台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10312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A1E3F"/>
                </a:solidFill>
                <a:latin typeface="Microsoft JhengHei"/>
              </a:rPr>
              <a:t>API 中台串接保險公司與通路系統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3456432"/>
            <a:ext cx="109728" cy="1097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329184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華南產險（Console 站）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4050791"/>
            <a:ext cx="109728" cy="1097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87000" y="388619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車麻吉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4645151"/>
            <a:ext cx="109728" cy="1097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87000" y="448055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必佳科技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戰略夥伴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保險公司 · 經紀人 · 旅遊 OTA · 政府單位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15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38074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4389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保險公司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040880"/>
            <a:ext cx="4389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富邦產險 · 國泰產險 · CHUBB · 旺旺友聯 · 新安東京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6537960"/>
            <a:ext cx="4389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保險經紀人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7040880"/>
            <a:ext cx="4389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富易達 · 錠嵂 · 永達 · 巨擘 · Top 30 保經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537960"/>
            <a:ext cx="4389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旅遊 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7040880"/>
            <a:ext cx="4389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JetFi · ezfly 易飛網 · 順達旅遊 · Roo.Cash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海外拓展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柬埔寨（已落地）· 新加坡（已落地）· 越南（2027）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16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58368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6583680" cy="59436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柬埔寨 — 已落地營運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6217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JhengHei"/>
              </a:rPr>
              <a:t>Blue Ocean 金邊辦公室 · 2025 完成 100% 收購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09160"/>
            <a:ext cx="9144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Blue Ocean Broker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01768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E3A6F"/>
                </a:solidFill>
                <a:latin typeface="Microsoft JhengHei"/>
              </a:rPr>
              <a:t>100% 收購 · 柬埔寨營運基地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67528"/>
            <a:ext cx="9144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67528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Newa Insurance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6013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E3A6F"/>
                </a:solidFill>
                <a:latin typeface="Microsoft JhengHei"/>
              </a:rPr>
              <a:t>戰略夥伴 · 嵌入式產品共設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025896"/>
            <a:ext cx="9144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02589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PTM Cambodia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18504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E3A6F"/>
                </a:solidFill>
                <a:latin typeface="Microsoft JhengHei"/>
              </a:rPr>
              <a:t>最大旅行社 · 旅平險嵌入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684264"/>
            <a:ext cx="9144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684264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BYD Cambodia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976872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E3A6F"/>
                </a:solidFill>
                <a:latin typeface="Microsoft JhengHei"/>
              </a:rPr>
              <a:t>EV 經銷 · 嵌入式車險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188720"/>
            <a:ext cx="685800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1188720"/>
            <a:ext cx="6858000" cy="59436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1280160"/>
            <a:ext cx="6492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越南 — 2027 進場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965960"/>
            <a:ext cx="6492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A1E3F"/>
                </a:solidFill>
                <a:latin typeface="Microsoft JhengHei"/>
              </a:rPr>
              <a:t>胡志明市 · 12 個月 3 階段策略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69748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697480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JhengHei"/>
              </a:rPr>
              <a:t>M1-M4 POC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081528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富邦越南 · 國泰越南 · Saladin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61188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3611880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JhengHei"/>
              </a:rPr>
              <a:t>M5-M8 JV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995928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60/40 合資 · Bao Viet / PVI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452628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4526280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JhengHei"/>
              </a:rPr>
              <a:t>M9-M12 規模化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910328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SaaS 直銷 · USD 10 萬營收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5532120"/>
            <a:ext cx="6858000" cy="214884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5623560"/>
            <a:ext cx="6492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Microsoft JhengHei"/>
              </a:rPr>
              <a:t>新加坡 — 已落地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6172200"/>
            <a:ext cx="6492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Dew Touch 業務員 SaaS 上線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675120"/>
            <a:ext cx="6492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東南亞 4 國：新加坡 + 柬埔寨 + 越南 + 馬來西亞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募資使用與五年財務預測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Series B · 2027 目標完成募資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17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85800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募資用途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0116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東南亞市場拓展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060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越南合資 · 柬埔寨深化 · 馬來 / 印尼進場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290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產品 R&amp;D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2336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GenAI 業務員助手 · 理賠自動化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8463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BD 與 GTM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4406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Top 30 保經深化 · 通路擴張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62636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合規與治理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8580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ISO 年度更新 · 越柬保險業執照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188720"/>
            <a:ext cx="658368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32588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A1E3F"/>
                </a:solidFill>
                <a:latin typeface="Microsoft JhengHei"/>
              </a:rPr>
              <a:t>五年營收預測（NT$ 百萬）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965960"/>
            <a:ext cx="6217920" cy="5029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02996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02996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場景保險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02996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業務員 SaaS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202996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API 中台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0" y="2029968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合計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2514600"/>
            <a:ext cx="8229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60604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2514600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26060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2514600"/>
            <a:ext cx="1371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26060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247120" y="2514600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0" y="26060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527280" y="2514600"/>
            <a:ext cx="146304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527280" y="26060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38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3044952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313639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3044952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3136392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3044952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313639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247120" y="3044952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47120" y="3136392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527280" y="3044952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527280" y="313639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78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3575304"/>
            <a:ext cx="8229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3666744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3575304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3666744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45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75520" y="3575304"/>
            <a:ext cx="1371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75520" y="3666744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47120" y="3575304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47120" y="3666744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32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527280" y="3575304"/>
            <a:ext cx="146304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527280" y="3666744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142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4105656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4197096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2029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0" y="4105656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4197096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80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75520" y="4105656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0" y="4197096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247120" y="4105656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47120" y="4197096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55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527280" y="4105656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527280" y="4197096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245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0" y="4636008"/>
            <a:ext cx="8229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0" y="472744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2030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95360" y="4636008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95360" y="47274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140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75520" y="4636008"/>
            <a:ext cx="1371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75520" y="472744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180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247120" y="4636008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247120" y="47274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95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527280" y="4636008"/>
            <a:ext cx="146304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527280" y="4727448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415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5486400"/>
            <a:ext cx="6217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E3F"/>
                </a:solidFill>
                <a:latin typeface="Microsoft JhengHei"/>
              </a:rPr>
              <a:t>CAGR 81% · 海外營收 2026→2030 由 5% 升至 35%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0" y="5989320"/>
            <a:ext cx="6217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2028 EBITDA 轉正 · 2029 起穩定獲利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18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18288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1887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icrosoft JhengHei"/>
              </a:rPr>
              <a:t>與我們一起打造保險的未來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D4AF37"/>
                </a:solidFill>
                <a:latin typeface="Microsoft JhengHei"/>
              </a:rPr>
              <a:t>羅賓斯科技 · Series B · 2027 目標完成募資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D4AF37"/>
                </a:solidFill>
                <a:latin typeface="Microsoft JhengHei"/>
              </a:rPr>
              <a:t>三年目標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D4AF37"/>
                </a:solidFill>
                <a:latin typeface="Microsoft JhengHei"/>
              </a:rPr>
              <a:t>100,000 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389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JhengHei"/>
              </a:rPr>
              <a:t>賦能保險業務員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3891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D4AF37"/>
                </a:solidFill>
                <a:latin typeface="Microsoft JhengHei"/>
              </a:rPr>
              <a:t>NT$ 50 億+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4389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JhengHei"/>
              </a:rPr>
              <a:t>累積保費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D4AF37"/>
                </a:solidFill>
                <a:latin typeface="Microsoft JhengHei"/>
              </a:rPr>
              <a:t>4 個國家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303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JhengHei"/>
              </a:rPr>
              <a:t>東南亞落地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035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D4AF37"/>
                </a:solidFill>
                <a:latin typeface="Microsoft JhengHei"/>
              </a:rPr>
              <a:t>業界唯一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5303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JhengHei"/>
              </a:rPr>
              <a:t>ISO 27001 + 27701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6858000"/>
            <a:ext cx="11887200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6949440"/>
            <a:ext cx="11887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聯絡我們  ·  evin.lin@robinstech.com.tw  ·  www.robinstech.com.tw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A 輪募資規劃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NT$ 6,000 萬 · 2026 Q4 closing 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19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280160"/>
            <a:ext cx="4572000" cy="4572000"/>
          </a:xfrm>
          <a:prstGeom prst="ellipse">
            <a:avLst/>
          </a:prstGeom>
          <a:solidFill>
            <a:srgbClr val="0A1E3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D4AF37"/>
                </a:solidFill>
                <a:latin typeface="Microsoft JhengHei"/>
              </a:rPr>
              <a:t>NT$ 6,000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 輪募資總額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JhengHei"/>
              </a:rPr>
              <a:t>2026 Q4 closing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6035040"/>
            <a:ext cx="2286000" cy="18288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NT$ 2,000 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9037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JhengHei"/>
              </a:rPr>
              <a:t>VC 私募</a:t>
            </a:r>
          </a:p>
        </p:txBody>
      </p:sp>
      <p:sp>
        <p:nvSpPr>
          <p:cNvPr id="16" name="Oval 15"/>
          <p:cNvSpPr/>
          <p:nvPr/>
        </p:nvSpPr>
        <p:spPr>
          <a:xfrm>
            <a:off x="2926080" y="6035040"/>
            <a:ext cx="2286000" cy="18288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63093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1E3F"/>
                </a:solidFill>
                <a:latin typeface="Microsoft JhengHei"/>
              </a:rPr>
              <a:t>NT$ 4,000 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69037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0A1E3F"/>
                </a:solidFill>
                <a:latin typeface="Microsoft JhengHei"/>
              </a:rPr>
              <a:t>數發部創新補助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23444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資金用途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874519"/>
            <a:ext cx="3931920" cy="1965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874519"/>
            <a:ext cx="39319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9455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海外擴張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80359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越南 2027 進場 · 柬埔寨深化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1874519"/>
            <a:ext cx="3931920" cy="1965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04120" y="1874519"/>
            <a:ext cx="39319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19455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產品擴張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880359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三大商品（場景 / SaaS / API）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069079"/>
            <a:ext cx="3931920" cy="1965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4069079"/>
            <a:ext cx="39319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38911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人才招募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074919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IT 從 3 人 → 10 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4069079"/>
            <a:ext cx="3931920" cy="1965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04120" y="4069079"/>
            <a:ext cx="39319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8440" y="438911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估值區間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5074919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Pre-money NT$ 2 - 2.5 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6400800"/>
            <a:ext cx="8092440" cy="13716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6492240"/>
            <a:ext cx="7863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估值依據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6949440"/>
            <a:ext cx="7863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JhengHei"/>
              </a:rPr>
              <a:t>v3 canonical 收益模型 + Top 30 客戶基礎 + ISO + 金質獎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7406640"/>
            <a:ext cx="7863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Microsoft JhengHei"/>
              </a:rPr>
              <a:t>三輪驅動 — 場景保險 / 業務員賦能 / API 中台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競品分析：5 家對標 · 11 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三模式齊備 + 中文 SEA + 雙 ISO + GenAI 金獎 = 唯一定位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20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1143000"/>
            <a:ext cx="1371600" cy="36576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21615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143000"/>
            <a:ext cx="2103120" cy="36576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2161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Bolttech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143000"/>
            <a:ext cx="2103120" cy="36576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2161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Lemonade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143000"/>
            <a:ext cx="2103120" cy="36576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2161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Outmarket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143000"/>
            <a:ext cx="2103120" cy="36576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2161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wefox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018520" y="1143000"/>
            <a:ext cx="237744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18520" y="121615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E3F"/>
                </a:solidFill>
                <a:latin typeface="Microsoft JhengHei"/>
              </a:rPr>
              <a:t>羅賓斯科技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1508760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1627632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成立時間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1508760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1581912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2020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1508760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581912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2015 (NYSE: LMND)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1508760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581912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2021-2022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1508760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1581912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2015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018520" y="1508760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0" y="1581912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2019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440" y="2075688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61872" y="2194560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地理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2075688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2148840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新加坡 HQ + 30 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2075688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2148840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美國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80" y="2075688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2148840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美國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400" y="2075688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2148840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歐洲 (DE+CH+IT+ES)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018520" y="2075688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64240" y="2148840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台灣 + SEA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440" y="2642616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61872" y="2761488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商業模式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2642616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0" y="2715768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嵌入式平台 (B2B2C)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9160" y="2642616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2715768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DTC AI carrier (B2C)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2642616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2715768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B2B SaaS 業務員賦能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2642616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0" y="2715768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保險科技多模式 (B2B+B2C)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018520" y="2642616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64240" y="2715768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三模式齊備 (場景+SaaS+API)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440" y="3209544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61872" y="3328416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主客戶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6040" y="3209544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51760" y="3282696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保險公司 + 大型通路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09160" y="3209544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0" y="3282696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個人消費者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12280" y="3209544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3282696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250+ 保經代 / Top brokers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15400" y="3209544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61120" y="3282696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保險經紀人 + 業務員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18520" y="3209544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64240" y="3282696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Top 30 保經 + carriers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34440" y="3776472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61872" y="3895344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客戶數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6040" y="3776472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51760" y="3849624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5 億用戶觸達 (2024)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09160" y="3776472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3849624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210 萬付費用戶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12280" y="3776472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3849624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250+ 保經代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15400" y="3776472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61120" y="3849624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近 100 萬 客戶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018520" y="3776472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64240" y="3849624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Top 30 保經 + 100K+ 保單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234440" y="4343400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61872" y="4462272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營收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06040" y="4343400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51760" y="4416552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USD 1.7B (2024 GWP)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709160" y="4343400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0" y="4416552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USD 526M (2024)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12280" y="4343400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0" y="4416552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未公開 (early-stage)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15400" y="4343400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61120" y="4416552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USD ~600M (2023)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018520" y="4343400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64240" y="4416552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NT$ 5 億 累積保費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34440" y="4910328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61872" y="5029200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估值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06040" y="4910328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51760" y="4983480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USD 1.6B (2023 Series B)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709160" y="4910328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54880" y="4983480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市值 USD 1.5B (NYSE)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812280" y="4910328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58000" y="4983480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未公開 (Series A)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400" y="4910328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61120" y="4983480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USD 4.5B (2021 高峰)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018520" y="4910328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064240" y="4983480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Pre-money NT$ 2-2.5 億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234440" y="5477256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261872" y="5596128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投資人背景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06040" y="5477256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51760" y="5550408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Tokio Marine / Khazanah / Activant / MUFG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60" y="5477256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0" y="5550408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Softbank / Allianz / Sequoia / 公開市場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12280" y="5477256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58000" y="5550408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未公開 (種子輪)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15400" y="5477256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61120" y="5550408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Mubadala / Salesforce / Eurazeo / Squarepoint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018520" y="5477256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064240" y="5550408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富易達 + 數發部 + VC（A 輪募中）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234440" y="6044184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261872" y="6163056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認證 / 獎項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606040" y="6044184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51760" y="6117336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60" y="6044184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54880" y="6117336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NYSE 上市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12280" y="6044184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858000" y="6117336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SOC 2 Type II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400" y="6044184"/>
            <a:ext cx="2103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61120" y="6117336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018520" y="6044184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064240" y="6117336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ISO 27001+27701 + GenAI 金獎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234440" y="6611112"/>
            <a:ext cx="1371600" cy="5669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261872" y="6729984"/>
            <a:ext cx="13167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羅賓斯差異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06040" y="6611112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651760" y="6684264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更聚焦 agent + SEA + 中文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60" y="6611112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754880" y="6684264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augment 不替代業務員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12280" y="6611112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58000" y="6684264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+ 場景保險 + API 中台齊全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915400" y="6611112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961120" y="6684264"/>
            <a:ext cx="20116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3A6F"/>
                </a:solidFill>
                <a:latin typeface="Microsoft JhengHei"/>
              </a:rPr>
              <a:t>更精準（單一垂直）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1018520" y="6611112"/>
            <a:ext cx="23774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1064240" y="6684264"/>
            <a:ext cx="22860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A1E3F"/>
                </a:solidFill>
                <a:latin typeface="Microsoft JhengHei"/>
              </a:rPr>
              <a:t>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7452360"/>
            <a:ext cx="1316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A1E3F"/>
                </a:solidFill>
                <a:latin typeface="Microsoft JhengHei"/>
              </a:rPr>
              <a:t>唯一同時具備「三模式 × 中文 × SEA × 雙 ISO × GenAI 金獎」的玩家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103120"/>
            <a:ext cx="18288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316736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Microsoft JhengHei"/>
              </a:rPr>
              <a:t>業務員的 AI 軍火庫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31673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D4AF37"/>
                </a:solidFill>
                <a:latin typeface="Microsoft JhengHei"/>
              </a:rPr>
              <a:t>賦能、不替代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31673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讓我們一起重新定義保險業的數位前線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486400"/>
            <a:ext cx="4114800" cy="109728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486400"/>
            <a:ext cx="457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57784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Microsoft JhengHei"/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06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Evin Lin 林奕帆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17220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D4AF37"/>
                </a:solidFill>
                <a:latin typeface="Microsoft JhengHei"/>
              </a:rPr>
              <a:t>evin.lin@robinstech.com.tw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5486400"/>
            <a:ext cx="4114800" cy="109728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57800" y="5486400"/>
            <a:ext cx="457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557784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Microsoft JhengHei"/>
              </a:rPr>
              <a:t>羅賓斯科技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806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RobinsTech Co., Ltd.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617220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0" y="5486400"/>
            <a:ext cx="4114800" cy="109728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38360" y="5486400"/>
            <a:ext cx="457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557784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Microsoft JhengHei"/>
              </a:rPr>
              <a:t>辦公室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5806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臺北市信義區基隆路一段 420 號 12F-1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617220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D4AF37"/>
                </a:solidFill>
                <a:latin typeface="Microsoft JhengHei"/>
              </a:rPr>
              <a:t>+886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7040880"/>
            <a:ext cx="1316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Microsoft JhengHei"/>
              </a:rPr>
              <a:t>2025 數發部 GenAI Stars 金質獎  ·  ISO 27001 + ISO 27701 雙認證  ·  服務台灣前 30 大保險經紀人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589520"/>
            <a:ext cx="1316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Thank you · 謝謝您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