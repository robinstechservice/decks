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0" cy="1069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560000" cy="936000"/>
          </a:xfrm>
          <a:prstGeom prst="rect">
            <a:avLst/>
          </a:prstGeom>
          <a:solidFill>
            <a:srgbClr val="05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07200"/>
            <a:ext cx="7560000" cy="28800"/>
          </a:xfrm>
          <a:prstGeom prst="rect">
            <a:avLst/>
          </a:prstGeom>
          <a:solidFill>
            <a:srgbClr val="E8B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0000" y="198000"/>
            <a:ext cx="198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E8B73A"/>
                </a:solidFill>
                <a:latin typeface="Microsoft JhengHei"/>
              </a:rPr>
              <a:t>🔧 萬登未來保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40000" y="198000"/>
            <a:ext cx="216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全台 1,000 家保修廠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0000" y="198000"/>
            <a:ext cx="2700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E8B73A"/>
                </a:solidFill>
                <a:latin typeface="Microsoft JhengHei"/>
              </a:rPr>
              <a:t>「車險保修大聯盟」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0000" y="558000"/>
            <a:ext cx="6840000" cy="251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F8E6B8"/>
                </a:solidFill>
                <a:latin typeface="Microsoft JhengHei"/>
              </a:rPr>
              <a:t>保修廠 → 萬登保代 → 產險公司 → 回饋保修廠（共贏循環）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5200" y="1087200"/>
            <a:ext cx="1929600" cy="597600"/>
          </a:xfrm>
          <a:prstGeom prst="roundRect">
            <a:avLst>
              <a:gd name="adj" fmla="val 16000"/>
            </a:avLst>
          </a:prstGeom>
          <a:solidFill>
            <a:srgbClr val="E8B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44000" y="1116000"/>
            <a:ext cx="1872000" cy="540000"/>
          </a:xfrm>
          <a:prstGeom prst="roundRect">
            <a:avLst>
              <a:gd name="adj" fmla="val 15000"/>
            </a:avLst>
          </a:prstGeom>
          <a:solidFill>
            <a:srgbClr val="05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44000" y="1116000"/>
            <a:ext cx="1872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🏛  產險公司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2167200"/>
            <a:ext cx="2073599" cy="633600"/>
          </a:xfrm>
          <a:prstGeom prst="roundRect">
            <a:avLst>
              <a:gd name="adj" fmla="val 16000"/>
            </a:avLst>
          </a:prstGeom>
          <a:solidFill>
            <a:srgbClr val="D92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72000" y="2196000"/>
            <a:ext cx="2015999" cy="576000"/>
          </a:xfrm>
          <a:prstGeom prst="roundRect">
            <a:avLst>
              <a:gd name="adj" fmla="val 15000"/>
            </a:avLst>
          </a:prstGeom>
          <a:solidFill>
            <a:srgbClr val="E8B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72000" y="2196000"/>
            <a:ext cx="2015999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>
                <a:solidFill>
                  <a:srgbClr val="051435"/>
                </a:solidFill>
                <a:latin typeface="Microsoft JhengHei"/>
              </a:rPr>
              <a:t>💼  萬登保代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8000" y="3186000"/>
            <a:ext cx="1980000" cy="576000"/>
          </a:xfrm>
          <a:prstGeom prst="roundRect">
            <a:avLst>
              <a:gd name="adj" fmla="val 16000"/>
            </a:avLst>
          </a:prstGeom>
          <a:solidFill>
            <a:srgbClr val="E8B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76000" y="3204000"/>
            <a:ext cx="1944000" cy="540000"/>
          </a:xfrm>
          <a:prstGeom prst="roundRect">
            <a:avLst>
              <a:gd name="adj" fmla="val 15000"/>
            </a:avLst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00" y="3204000"/>
            <a:ext cx="1944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🔧  修車廠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90000" y="3186000"/>
            <a:ext cx="1980000" cy="576000"/>
          </a:xfrm>
          <a:prstGeom prst="roundRect">
            <a:avLst>
              <a:gd name="adj" fmla="val 16000"/>
            </a:avLst>
          </a:prstGeom>
          <a:solidFill>
            <a:srgbClr val="E8B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808000" y="3204000"/>
            <a:ext cx="1944000" cy="540000"/>
          </a:xfrm>
          <a:prstGeom prst="roundRect">
            <a:avLst>
              <a:gd name="adj" fmla="val 15000"/>
            </a:avLst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08000" y="3204000"/>
            <a:ext cx="1944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🚗  鈑金廠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2000" y="3186000"/>
            <a:ext cx="1980000" cy="576000"/>
          </a:xfrm>
          <a:prstGeom prst="roundRect">
            <a:avLst>
              <a:gd name="adj" fmla="val 16000"/>
            </a:avLst>
          </a:prstGeom>
          <a:solidFill>
            <a:srgbClr val="E8B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040000" y="3204000"/>
            <a:ext cx="1944000" cy="540000"/>
          </a:xfrm>
          <a:prstGeom prst="roundRect">
            <a:avLst>
              <a:gd name="adj" fmla="val 15000"/>
            </a:avLst>
          </a:prstGeom>
          <a:solidFill>
            <a:srgbClr val="1E3A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40000" y="3204000"/>
            <a:ext cx="1944000" cy="5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JhengHei"/>
              </a:rPr>
              <a:t>🚙  賣車行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1548000.0" y="2772000"/>
            <a:ext cx="2232000.0" cy="414000"/>
          </a:xfrm>
          <a:prstGeom prst="line">
            <a:avLst/>
          </a:prstGeom>
          <a:ln w="35560">
            <a:solidFill>
              <a:srgbClr val="E8B73A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3780000.0" y="2772000"/>
            <a:ext cx="0.0" cy="414000"/>
          </a:xfrm>
          <a:prstGeom prst="line">
            <a:avLst/>
          </a:prstGeom>
          <a:ln w="35560">
            <a:solidFill>
              <a:srgbClr val="E8B73A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3780000.0" y="2772000"/>
            <a:ext cx="2232000.0" cy="414000"/>
          </a:xfrm>
          <a:prstGeom prst="line">
            <a:avLst/>
          </a:prstGeom>
          <a:ln w="35560">
            <a:solidFill>
              <a:srgbClr val="E8B73A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3780000.0" y="1656000"/>
            <a:ext cx="0.0" cy="540000"/>
          </a:xfrm>
          <a:prstGeom prst="line">
            <a:avLst/>
          </a:prstGeom>
          <a:ln w="40640">
            <a:solidFill>
              <a:srgbClr val="E8B73A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716000.0" y="1386000.0"/>
            <a:ext cx="2700000.0" cy="0.0"/>
          </a:xfrm>
          <a:prstGeom prst="line">
            <a:avLst/>
          </a:prstGeom>
          <a:ln w="35560">
            <a:solidFill>
              <a:srgbClr val="D92B1C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416000" y="1386000.0"/>
            <a:ext cx="0" cy="2088000.0"/>
          </a:xfrm>
          <a:prstGeom prst="line">
            <a:avLst/>
          </a:prstGeom>
          <a:ln w="35560">
            <a:solidFill>
              <a:srgbClr val="D92B1C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6984000" y="3474000.0"/>
            <a:ext cx="432000" cy="0.0"/>
          </a:xfrm>
          <a:prstGeom prst="line">
            <a:avLst/>
          </a:prstGeom>
          <a:ln w="35560">
            <a:solidFill>
              <a:srgbClr val="D92B1C"/>
            </a:solidFill>
            <a:head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796000" y="1450800"/>
            <a:ext cx="162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D92B1C"/>
                </a:solidFill>
                <a:latin typeface="Microsoft JhengHei"/>
              </a:rPr>
              <a:t>聯盟談判 + 集體力量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16000" y="3168000"/>
            <a:ext cx="180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D92B1C"/>
                </a:solidFill>
                <a:latin typeface="Microsoft JhengHei"/>
              </a:rPr>
              <a:t>↻ 回饋保修廠專屬條件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0000" y="4320000"/>
            <a:ext cx="180000" cy="342000"/>
          </a:xfrm>
          <a:prstGeom prst="rect">
            <a:avLst/>
          </a:prstGeom>
          <a:solidFill>
            <a:srgbClr val="D92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1999" y="4320000"/>
            <a:ext cx="6588001" cy="34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51435"/>
                </a:solidFill>
                <a:latin typeface="Microsoft JhengHei"/>
              </a:rPr>
              <a:t>為何跟羅賓斯及萬登保代合作比一般保險業務員更好？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0000" y="4788000"/>
            <a:ext cx="360000" cy="180000"/>
          </a:xfrm>
          <a:prstGeom prst="roundRect">
            <a:avLst>
              <a:gd name="adj" fmla="val 50000"/>
            </a:avLst>
          </a:prstGeom>
          <a:solidFill>
            <a:srgbClr val="05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0000" y="4788000"/>
            <a:ext cx="360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E8B73A"/>
                </a:solidFill>
                <a:latin typeface="Microsoft JhengHei"/>
              </a:rPr>
              <a:t>（一）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8000" y="4770000"/>
            <a:ext cx="5760000" cy="22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21822"/>
                </a:solidFill>
                <a:latin typeface="Microsoft JhengHei"/>
              </a:rPr>
              <a:t>一般詢價投保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8000" y="4770000"/>
            <a:ext cx="360000" cy="22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BA84A"/>
                </a:solidFill>
                <a:latin typeface="Microsoft JhengHei"/>
              </a:rPr>
              <a:t>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0000" y="5011200"/>
            <a:ext cx="360000" cy="180000"/>
          </a:xfrm>
          <a:prstGeom prst="roundRect">
            <a:avLst>
              <a:gd name="adj" fmla="val 50000"/>
            </a:avLst>
          </a:prstGeom>
          <a:solidFill>
            <a:srgbClr val="05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0000" y="5011200"/>
            <a:ext cx="360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E8B73A"/>
                </a:solidFill>
                <a:latin typeface="Microsoft JhengHei"/>
              </a:rPr>
              <a:t>（二）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8000" y="4993200"/>
            <a:ext cx="5760000" cy="22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21822"/>
                </a:solidFill>
                <a:latin typeface="Microsoft JhengHei"/>
              </a:rPr>
              <a:t>五分鐘內閃電報價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8000" y="4993200"/>
            <a:ext cx="360000" cy="22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BA84A"/>
                </a:solidFill>
                <a:latin typeface="Microsoft JhengHei"/>
              </a:rPr>
              <a:t>⚡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0000" y="5234400"/>
            <a:ext cx="360000" cy="180000"/>
          </a:xfrm>
          <a:prstGeom prst="roundRect">
            <a:avLst>
              <a:gd name="adj" fmla="val 50000"/>
            </a:avLst>
          </a:prstGeom>
          <a:solidFill>
            <a:srgbClr val="05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0000" y="5234400"/>
            <a:ext cx="360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E8B73A"/>
                </a:solidFill>
                <a:latin typeface="Microsoft JhengHei"/>
              </a:rPr>
              <a:t>（三）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8000" y="5216400"/>
            <a:ext cx="5760000" cy="22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21822"/>
                </a:solidFill>
                <a:latin typeface="Microsoft JhengHei"/>
              </a:rPr>
              <a:t>車主回頭率 50% 提升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8000" y="5216400"/>
            <a:ext cx="360000" cy="22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BA84A"/>
                </a:solidFill>
                <a:latin typeface="Microsoft JhengHei"/>
              </a:rPr>
              <a:t>★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60000" y="5457600"/>
            <a:ext cx="360000" cy="180000"/>
          </a:xfrm>
          <a:prstGeom prst="roundRect">
            <a:avLst>
              <a:gd name="adj" fmla="val 50000"/>
            </a:avLst>
          </a:prstGeom>
          <a:solidFill>
            <a:srgbClr val="05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0000" y="5457600"/>
            <a:ext cx="360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E8B73A"/>
                </a:solidFill>
                <a:latin typeface="Microsoft JhengHei"/>
              </a:rPr>
              <a:t>（四）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8000" y="5439600"/>
            <a:ext cx="5760000" cy="22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21822"/>
                </a:solidFill>
                <a:latin typeface="Microsoft JhengHei"/>
              </a:rPr>
              <a:t>理賠勘車、法務實務經驗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8000" y="5439600"/>
            <a:ext cx="360000" cy="22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BA84A"/>
                </a:solidFill>
                <a:latin typeface="Microsoft JhengHei"/>
              </a:rPr>
              <a:t>✓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60000" y="5680800"/>
            <a:ext cx="360000" cy="180000"/>
          </a:xfrm>
          <a:prstGeom prst="roundRect">
            <a:avLst>
              <a:gd name="adj" fmla="val 50000"/>
            </a:avLst>
          </a:prstGeom>
          <a:solidFill>
            <a:srgbClr val="05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0000" y="5680800"/>
            <a:ext cx="360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E8B73A"/>
                </a:solidFill>
                <a:latin typeface="Microsoft JhengHei"/>
              </a:rPr>
              <a:t>（五）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8000" y="5662800"/>
            <a:ext cx="5760000" cy="22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0">
                <a:solidFill>
                  <a:srgbClr val="121822"/>
                </a:solidFill>
                <a:latin typeface="Microsoft JhengHei"/>
              </a:rPr>
              <a:t>集千萬保費基量談條件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68000" y="5662800"/>
            <a:ext cx="360000" cy="22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2BA84A"/>
                </a:solidFill>
                <a:latin typeface="Microsoft JhengHei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8000" y="5457600"/>
            <a:ext cx="594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Microsoft JhengHei"/>
              </a:rPr>
              <a:t>※ 透過羅賓斯科技自動通知驗車及車險到期日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0000" y="6120000"/>
            <a:ext cx="180000" cy="342000"/>
          </a:xfrm>
          <a:prstGeom prst="rect">
            <a:avLst/>
          </a:prstGeom>
          <a:solidFill>
            <a:srgbClr val="D92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11999" y="6120000"/>
            <a:ext cx="6588001" cy="34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51435"/>
                </a:solidFill>
                <a:latin typeface="Microsoft JhengHei"/>
              </a:rPr>
              <a:t>萬登 Line@ 五分鐘閃電報價流程（超簡化 3 步驟）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60000" y="6570000"/>
            <a:ext cx="6840000" cy="360000"/>
          </a:xfrm>
          <a:prstGeom prst="roundRect">
            <a:avLst>
              <a:gd name="adj" fmla="val 10000"/>
            </a:avLst>
          </a:prstGeom>
          <a:solidFill>
            <a:srgbClr val="05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0000" y="6570000"/>
            <a:ext cx="228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8B73A"/>
                </a:solidFill>
                <a:latin typeface="Microsoft JhengHei"/>
              </a:rPr>
              <a:t>1. 拍照上傳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632800" y="6624000"/>
            <a:ext cx="14400" cy="252000"/>
          </a:xfrm>
          <a:prstGeom prst="rect">
            <a:avLst/>
          </a:prstGeom>
          <a:solidFill>
            <a:srgbClr val="E8B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640000" y="6570000"/>
            <a:ext cx="228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8B73A"/>
                </a:solidFill>
                <a:latin typeface="Microsoft JhengHei"/>
              </a:rPr>
              <a:t>2. 五分鐘報價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912800" y="6624000"/>
            <a:ext cx="14400" cy="252000"/>
          </a:xfrm>
          <a:prstGeom prst="rect">
            <a:avLst/>
          </a:prstGeom>
          <a:solidFill>
            <a:srgbClr val="E8B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920000" y="6570000"/>
            <a:ext cx="2280000" cy="36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E8B73A"/>
                </a:solidFill>
                <a:latin typeface="Microsoft JhengHei"/>
              </a:rPr>
              <a:t>3. 線上出單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60000" y="7038000"/>
            <a:ext cx="432000" cy="233999"/>
          </a:xfrm>
          <a:prstGeom prst="roundRect">
            <a:avLst>
              <a:gd name="adj" fmla="val 25000"/>
            </a:avLst>
          </a:prstGeom>
          <a:solidFill>
            <a:srgbClr val="D92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0000" y="7038000"/>
            <a:ext cx="432000" cy="233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1️⃣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0000" y="7038000"/>
            <a:ext cx="1260000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51435"/>
                </a:solidFill>
                <a:latin typeface="Microsoft JhengHei"/>
              </a:rPr>
              <a:t>【拍照上傳】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60000" y="7038000"/>
            <a:ext cx="4320000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94350"/>
                </a:solidFill>
                <a:latin typeface="Microsoft JhengHei"/>
              </a:rPr>
              <a:t>── 行照 + 駕照 + 手機丟萬登 Line@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732000" y="7038000"/>
            <a:ext cx="360000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21822"/>
                </a:solidFill>
                <a:latin typeface="Microsoft JhengHei"/>
              </a:rPr>
              <a:t>📷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60000" y="7289999"/>
            <a:ext cx="432000" cy="233999"/>
          </a:xfrm>
          <a:prstGeom prst="roundRect">
            <a:avLst>
              <a:gd name="adj" fmla="val 25000"/>
            </a:avLst>
          </a:prstGeom>
          <a:solidFill>
            <a:srgbClr val="D92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60000" y="7289999"/>
            <a:ext cx="432000" cy="233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2️⃣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0000" y="7289999"/>
            <a:ext cx="1260000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51435"/>
                </a:solidFill>
                <a:latin typeface="Microsoft JhengHei"/>
              </a:rPr>
              <a:t>【五分鐘報價】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60000" y="7289999"/>
            <a:ext cx="4320000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94350"/>
                </a:solidFill>
                <a:latin typeface="Microsoft JhengHei"/>
              </a:rPr>
              <a:t>── 串接保險公司報價系統，閃電報價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732000" y="7289999"/>
            <a:ext cx="360000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21822"/>
                </a:solidFill>
                <a:latin typeface="Microsoft JhengHei"/>
              </a:rPr>
              <a:t>⚡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60000" y="7541998"/>
            <a:ext cx="432000" cy="233999"/>
          </a:xfrm>
          <a:prstGeom prst="roundRect">
            <a:avLst>
              <a:gd name="adj" fmla="val 25000"/>
            </a:avLst>
          </a:prstGeom>
          <a:solidFill>
            <a:srgbClr val="D92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60000" y="7541998"/>
            <a:ext cx="432000" cy="233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Microsoft JhengHei"/>
              </a:rPr>
              <a:t>3️⃣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900000" y="7541998"/>
            <a:ext cx="1260000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51435"/>
                </a:solidFill>
                <a:latin typeface="Microsoft JhengHei"/>
              </a:rPr>
              <a:t>【線上出單】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160000" y="7541998"/>
            <a:ext cx="4320000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94350"/>
                </a:solidFill>
                <a:latin typeface="Microsoft JhengHei"/>
              </a:rPr>
              <a:t>── 現場簽名、繳費完成即投保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732000" y="7541998"/>
            <a:ext cx="360000" cy="25199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0">
                <a:solidFill>
                  <a:srgbClr val="121822"/>
                </a:solidFill>
                <a:latin typeface="Microsoft JhengHei"/>
              </a:rPr>
              <a:t>💸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60000" y="7920000"/>
            <a:ext cx="6840000" cy="14400"/>
          </a:xfrm>
          <a:prstGeom prst="rect">
            <a:avLst/>
          </a:prstGeom>
          <a:solidFill>
            <a:srgbClr val="05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60000" y="8064000"/>
            <a:ext cx="180000" cy="342000"/>
          </a:xfrm>
          <a:prstGeom prst="rect">
            <a:avLst/>
          </a:prstGeom>
          <a:solidFill>
            <a:srgbClr val="D92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11999" y="8064000"/>
            <a:ext cx="6588001" cy="34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1">
                <a:solidFill>
                  <a:srgbClr val="051435"/>
                </a:solidFill>
                <a:latin typeface="Microsoft JhengHei"/>
              </a:rPr>
              <a:t>📱  【 萬登官方 Line@ QR Code 】</a:t>
            </a:r>
          </a:p>
        </p:txBody>
      </p:sp>
      <p:pic>
        <p:nvPicPr>
          <p:cNvPr id="82" name="Picture 81" descr="wandeng_line_q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6000" y="8460000"/>
            <a:ext cx="1440000" cy="1440000"/>
          </a:xfrm>
          <a:prstGeom prst="rect">
            <a:avLst/>
          </a:prstGeom>
        </p:spPr>
      </p:pic>
      <p:sp>
        <p:nvSpPr>
          <p:cNvPr id="83" name="Rectangle 82"/>
          <p:cNvSpPr/>
          <p:nvPr/>
        </p:nvSpPr>
        <p:spPr>
          <a:xfrm>
            <a:off x="0" y="9612000"/>
            <a:ext cx="7560000" cy="21600"/>
          </a:xfrm>
          <a:prstGeom prst="rect">
            <a:avLst/>
          </a:prstGeom>
          <a:solidFill>
            <a:srgbClr val="E8B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60000" y="9684000"/>
            <a:ext cx="36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C4972C"/>
                </a:solidFill>
                <a:latin typeface="Microsoft JhengHei"/>
              </a:rPr>
              <a:t>###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20000" y="9684000"/>
            <a:ext cx="64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051435"/>
                </a:solidFill>
                <a:latin typeface="Microsoft JhengHei"/>
              </a:rPr>
              <a:t>📞  萬登保代 · 專案執行負責人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60000" y="9954000"/>
            <a:ext cx="1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51435"/>
                </a:solidFill>
                <a:latin typeface="Microsoft JhengHei"/>
              </a:rPr>
              <a:t>✱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1999" y="9954000"/>
            <a:ext cx="2880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94350"/>
                </a:solidFill>
                <a:latin typeface="Microsoft JhengHei"/>
              </a:rPr>
              <a:t>聯絡人：</a:t>
            </a:r>
          </a:p>
          <a:p>
            <a:pPr algn="l"/>
            <a:r>
              <a:rPr sz="1400" b="1">
                <a:solidFill>
                  <a:srgbClr val="051435"/>
                </a:solidFill>
                <a:latin typeface="Microsoft JhengHei"/>
              </a:rPr>
              <a:t>游智翔  Matt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60000" y="10206000"/>
            <a:ext cx="18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051435"/>
                </a:solidFill>
                <a:latin typeface="Microsoft JhengHei"/>
              </a:rPr>
              <a:t>✱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11999" y="10206000"/>
            <a:ext cx="2880000" cy="18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394350"/>
                </a:solidFill>
                <a:latin typeface="Microsoft JhengHei"/>
              </a:rPr>
              <a:t>專線電話：</a:t>
            </a:r>
          </a:p>
          <a:p>
            <a:pPr algn="l"/>
            <a:r>
              <a:rPr sz="1400" b="1">
                <a:solidFill>
                  <a:srgbClr val="D92B1C"/>
                </a:solidFill>
                <a:latin typeface="Microsoft JhengHei"/>
              </a:rPr>
              <a:t>0939-641315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60000" y="10475999"/>
            <a:ext cx="6840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051435"/>
                </a:solidFill>
                <a:latin typeface="Microsoft JhengHei"/>
              </a:rPr>
              <a:t>❖  單打獨鬥是小店、千修結盟談條件、目標車險保費 1 億！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