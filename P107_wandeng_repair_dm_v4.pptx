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8640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1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972C"/>
                </a:solidFill>
                <a:latin typeface="Microsoft JhengHei"/>
              </a:rPr>
              <a:t>🔧 萬登未來保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0" y="180000"/>
            <a:ext cx="25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全台 1,000 家保修廠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180000"/>
            <a:ext cx="25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4972C"/>
                </a:solidFill>
                <a:latin typeface="Microsoft JhengHei"/>
              </a:rPr>
              <a:t>「車險保修大聯盟」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03999"/>
            <a:ext cx="68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2C28A"/>
                </a:solidFill>
                <a:latin typeface="Microsoft JhengHei"/>
              </a:rPr>
              <a:t>保修廠 → 萬登保代 → 產險公司 → 回饋保修廠（共贏循環）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1080000"/>
            <a:ext cx="1800000" cy="503999"/>
          </a:xfrm>
          <a:prstGeom prst="roundRect">
            <a:avLst>
              <a:gd name="adj" fmla="val 15000"/>
            </a:avLst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1080000"/>
            <a:ext cx="1800000" cy="50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🏛 產險公司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0000" y="2087999"/>
            <a:ext cx="1980000" cy="540000"/>
          </a:xfrm>
          <a:prstGeom prst="roundRect">
            <a:avLst>
              <a:gd name="adj" fmla="val 15000"/>
            </a:avLst>
          </a:prstGeom>
          <a:solidFill>
            <a:srgbClr val="C49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0000" y="2087999"/>
            <a:ext cx="198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💼 萬登保代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060000"/>
            <a:ext cx="1980000" cy="540000"/>
          </a:xfrm>
          <a:prstGeom prst="roundRect">
            <a:avLst>
              <a:gd name="adj" fmla="val 15000"/>
            </a:avLst>
          </a:prstGeom>
          <a:solidFill>
            <a:srgbClr val="1E4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3060000"/>
            <a:ext cx="198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🔧 修車廠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0000" y="3060000"/>
            <a:ext cx="1980000" cy="540000"/>
          </a:xfrm>
          <a:prstGeom prst="roundRect">
            <a:avLst>
              <a:gd name="adj" fmla="val 15000"/>
            </a:avLst>
          </a:prstGeom>
          <a:solidFill>
            <a:srgbClr val="1E4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0000" y="3060000"/>
            <a:ext cx="198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🚗 鈑金廠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0000" y="3060000"/>
            <a:ext cx="1980000" cy="540000"/>
          </a:xfrm>
          <a:prstGeom prst="roundRect">
            <a:avLst>
              <a:gd name="adj" fmla="val 15000"/>
            </a:avLst>
          </a:prstGeom>
          <a:solidFill>
            <a:srgbClr val="1E4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0" y="3060000"/>
            <a:ext cx="198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🏪 賣車行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30000.0" y="2627999"/>
            <a:ext cx="2250000.0" cy="414001"/>
          </a:xfrm>
          <a:prstGeom prst="line">
            <a:avLst/>
          </a:prstGeom>
          <a:ln w="31750">
            <a:solidFill>
              <a:srgbClr val="C4972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780000.0" y="2627999"/>
            <a:ext cx="0.0" cy="414001"/>
          </a:xfrm>
          <a:prstGeom prst="line">
            <a:avLst/>
          </a:prstGeom>
          <a:ln w="31750">
            <a:solidFill>
              <a:srgbClr val="C4972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780000.0" y="2627999"/>
            <a:ext cx="2250000.0" cy="414001"/>
          </a:xfrm>
          <a:prstGeom prst="line">
            <a:avLst/>
          </a:prstGeom>
          <a:ln w="31750">
            <a:solidFill>
              <a:srgbClr val="C4972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80000.0" y="1583999"/>
            <a:ext cx="0.0" cy="504000"/>
          </a:xfrm>
          <a:prstGeom prst="line">
            <a:avLst/>
          </a:prstGeom>
          <a:ln w="38100">
            <a:solidFill>
              <a:srgbClr val="C4972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80000.0" y="1331999.5"/>
            <a:ext cx="2772000.0" cy="0.0"/>
          </a:xfrm>
          <a:prstGeom prst="line">
            <a:avLst/>
          </a:prstGeom>
          <a:ln w="3175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000" y="1331999.5"/>
            <a:ext cx="0" cy="1998000.5"/>
          </a:xfrm>
          <a:prstGeom prst="line">
            <a:avLst/>
          </a:prstGeom>
          <a:ln w="3175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020000" y="3330000.0"/>
            <a:ext cx="432000" cy="0.0"/>
          </a:xfrm>
          <a:prstGeom prst="line">
            <a:avLst/>
          </a:prstGeom>
          <a:ln w="3175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12000" y="1403999"/>
            <a:ext cx="16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92B1C"/>
                </a:solidFill>
                <a:latin typeface="Microsoft JhengHei"/>
              </a:rPr>
              <a:t>聯盟談判 + 集體力量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2000" y="3078001"/>
            <a:ext cx="16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92B1C"/>
                </a:solidFill>
                <a:latin typeface="Microsoft JhengHei"/>
              </a:rPr>
              <a:t>↻ 回饋保修廠專屬條件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4140000"/>
            <a:ext cx="68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JhengHei"/>
              </a:rPr>
              <a:t>❓ 為何跟羅賓斯科技及萬登保代合作比一般保險業務員更好？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391999"/>
            <a:ext cx="1080000" cy="21600"/>
          </a:xfrm>
          <a:prstGeom prst="rect">
            <a:avLst/>
          </a:prstGeom>
          <a:solidFill>
            <a:srgbClr val="C49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4536000"/>
            <a:ext cx="54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(一)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00" y="4536000"/>
            <a:ext cx="558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一般詢價投保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0000" y="4536000"/>
            <a:ext cx="36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803F"/>
                </a:solidFill>
                <a:latin typeface="Microsoft Jheng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4770000"/>
            <a:ext cx="54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(二)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00" y="4770000"/>
            <a:ext cx="558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五分鐘內閃電報價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0000" y="4770000"/>
            <a:ext cx="36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803F"/>
                </a:solidFill>
                <a:latin typeface="Microsoft JhengHei"/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5004000"/>
            <a:ext cx="54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(三)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" y="5004000"/>
            <a:ext cx="558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車主回頭率 50% 提升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0000" y="5004000"/>
            <a:ext cx="36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803F"/>
                </a:solidFill>
                <a:latin typeface="Microsoft JhengHei"/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000" y="5238000"/>
            <a:ext cx="54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(四)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000" y="5238000"/>
            <a:ext cx="558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理賠勘車、法務實務經驗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0000" y="5238000"/>
            <a:ext cx="36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803F"/>
                </a:solidFill>
                <a:latin typeface="Microsoft Jheng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000" y="5472000"/>
            <a:ext cx="54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(五)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000" y="5472000"/>
            <a:ext cx="558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集千萬億價保費基量談條件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0000" y="5472000"/>
            <a:ext cx="360000" cy="23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803F"/>
                </a:solidFill>
                <a:latin typeface="Microsoft JhengHe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" y="5022000"/>
            <a:ext cx="594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※（透過羅賓斯科技自動通知驗車及車險到期日）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000" y="5940000"/>
            <a:ext cx="68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JhengHei"/>
              </a:rPr>
              <a:t>🚀 萬登 Line@ 五分鐘閃電報價流程（超簡化 3 步驟）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000" y="6191999"/>
            <a:ext cx="1080000" cy="21600"/>
          </a:xfrm>
          <a:prstGeom prst="rect">
            <a:avLst/>
          </a:prstGeom>
          <a:solidFill>
            <a:srgbClr val="C49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0000" y="6336000"/>
            <a:ext cx="6840000" cy="324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6336000"/>
            <a:ext cx="22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4972C"/>
                </a:solidFill>
                <a:latin typeface="Microsoft JhengHei"/>
              </a:rPr>
              <a:t>1. 拍照上傳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0000" y="6336000"/>
            <a:ext cx="22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4972C"/>
                </a:solidFill>
                <a:latin typeface="Microsoft JhengHei"/>
              </a:rPr>
              <a:t>⚡  2. 五分鐘報價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0000" y="6336000"/>
            <a:ext cx="22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4972C"/>
                </a:solidFill>
                <a:latin typeface="Microsoft JhengHei"/>
              </a:rPr>
              <a:t>3. 線上出單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0000" y="6768000"/>
            <a:ext cx="432000" cy="215999"/>
          </a:xfrm>
          <a:prstGeom prst="roundRect">
            <a:avLst>
              <a:gd name="adj" fmla="val 20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000" y="6768000"/>
            <a:ext cx="432000" cy="21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1️⃣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000" y="6768000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【拍照上傳】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0000" y="6768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行照 + 駕照 + 手機丟萬登 Line@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60000" y="6768000"/>
            <a:ext cx="432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21822"/>
                </a:solidFill>
                <a:latin typeface="Microsoft JhengHei"/>
              </a:rPr>
              <a:t>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0000" y="7019999"/>
            <a:ext cx="432000" cy="215999"/>
          </a:xfrm>
          <a:prstGeom prst="roundRect">
            <a:avLst>
              <a:gd name="adj" fmla="val 20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000" y="7019999"/>
            <a:ext cx="432000" cy="21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2️⃣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000" y="7019999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【五分鐘報價】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80000" y="70199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串接保險公司報價系統，閃電報價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0000" y="7019999"/>
            <a:ext cx="432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21822"/>
                </a:solidFill>
                <a:latin typeface="Microsoft JhengHei"/>
              </a:rPr>
              <a:t>⚡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0000" y="7271998"/>
            <a:ext cx="432000" cy="215999"/>
          </a:xfrm>
          <a:prstGeom prst="roundRect">
            <a:avLst>
              <a:gd name="adj" fmla="val 20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0000" y="7271998"/>
            <a:ext cx="432000" cy="21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3️⃣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000" y="7271998"/>
            <a:ext cx="10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【線上出單】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80000" y="7271998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現場簽名，繳費完成即投保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60000" y="7271998"/>
            <a:ext cx="432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21822"/>
                </a:solidFill>
                <a:latin typeface="Microsoft JhengHei"/>
              </a:rPr>
              <a:t>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0000" y="7740000"/>
            <a:ext cx="6840000" cy="216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0000" y="7884000"/>
            <a:ext cx="68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Microsoft JhengHei"/>
              </a:rPr>
              <a:t>📱【 萬登官方 Line@ QR Code 】</a:t>
            </a:r>
          </a:p>
        </p:txBody>
      </p:sp>
      <p:pic>
        <p:nvPicPr>
          <p:cNvPr id="68" name="Picture 67" descr="wandeng_line_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00" y="8172000"/>
            <a:ext cx="1620000" cy="16200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60000" y="9576000"/>
            <a:ext cx="2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972C"/>
                </a:solidFill>
                <a:latin typeface="Microsoft JhengHei"/>
              </a:rPr>
              <a:t>###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8000" y="9576000"/>
            <a:ext cx="655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📞 萬登保代・專案執行負責人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000" y="9827999"/>
            <a:ext cx="2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000" y="9827999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聯絡人：</a:t>
            </a:r>
          </a:p>
          <a:p>
            <a:pPr algn="l"/>
            <a:r>
              <a:rPr sz="1300" b="1">
                <a:solidFill>
                  <a:srgbClr val="0F2D52"/>
                </a:solidFill>
                <a:latin typeface="Microsoft JhengHei"/>
              </a:rPr>
              <a:t>游智翔  Matt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0000" y="10079999"/>
            <a:ext cx="288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2D52"/>
                </a:solidFill>
                <a:latin typeface="Microsoft JhengHei"/>
              </a:rPr>
              <a:t>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8000" y="10079999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專線電話：</a:t>
            </a:r>
          </a:p>
          <a:p>
            <a:pPr algn="l"/>
            <a:r>
              <a:rPr sz="1300" b="1">
                <a:solidFill>
                  <a:srgbClr val="D92B1C"/>
                </a:solidFill>
                <a:latin typeface="Microsoft JhengHei"/>
              </a:rPr>
              <a:t>0939-641315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0000" y="10332000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2D52"/>
                </a:solidFill>
                <a:latin typeface="Microsoft JhengHei"/>
              </a:rPr>
              <a:t>❖ 單打獨鬥是小店，千修結盟談條件，目標車險保費 1 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